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84999b3bc1414c" /><Relationship Type="http://schemas.openxmlformats.org/officeDocument/2006/relationships/extended-properties" Target="/docProps/app.xml" Id="R3a6fcc1434f04dec" /><Relationship Type="http://schemas.openxmlformats.org/officeDocument/2006/relationships/officeDocument" Target="/ppt/presentation.xml" Id="R73c98334dacb42f4" /></Relationships>
</file>

<file path=ppt/presentation.xml><?xml version="1.0" encoding="utf-8"?>
<p:presentation xmlns:p="http://schemas.openxmlformats.org/presentationml/2006/main">
  <p:sldMasterIdLst>
    <p:sldMasterId xmlns:r="http://schemas.openxmlformats.org/officeDocument/2006/relationships" id="2147483648" r:id="R7d8df7fd243547b4"/>
  </p:sldMasterIdLst>
  <p:notesMasterIdLst>
    <p:notesMasterId xmlns:r="http://schemas.openxmlformats.org/officeDocument/2006/relationships" r:id="Rb57b5ceef23d454f"/>
  </p:notesMasterIdLst>
  <p:sldIdLst>
    <p:sldId xmlns:r="http://schemas.openxmlformats.org/officeDocument/2006/relationships" id="256" r:id="R885845c183964bcb"/>
    <p:sldId xmlns:r="http://schemas.openxmlformats.org/officeDocument/2006/relationships" id="257" r:id="R815535ac5dbd4310"/>
    <p:sldId xmlns:r="http://schemas.openxmlformats.org/officeDocument/2006/relationships" id="258" r:id="R21d41ba06b7745fa"/>
    <p:sldId xmlns:r="http://schemas.openxmlformats.org/officeDocument/2006/relationships" id="259" r:id="R36a606860d9b47ba"/>
    <p:sldId xmlns:r="http://schemas.openxmlformats.org/officeDocument/2006/relationships" id="260" r:id="Ra89c148f2e3a4631"/>
    <p:sldId xmlns:r="http://schemas.openxmlformats.org/officeDocument/2006/relationships" id="261" r:id="R66df307c529d46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ce9de454ef4a36" /><Relationship Type="http://schemas.openxmlformats.org/officeDocument/2006/relationships/slideMaster" Target="/ppt/slideMasters/slideMaster1.xml" Id="R7d8df7fd243547b4" /><Relationship Type="http://schemas.openxmlformats.org/officeDocument/2006/relationships/notesMaster" Target="/ppt/notesMasters/notesMaster1.xml" Id="Rb57b5ceef23d454f" /><Relationship Type="http://schemas.openxmlformats.org/officeDocument/2006/relationships/presProps" Target="/ppt/presProps.xml" Id="Re5c26ca1cfaf4785" /><Relationship Type="http://schemas.openxmlformats.org/officeDocument/2006/relationships/tableStyles" Target="/ppt/tableStyles.xml" Id="Rbd85e1182a254cb3" /><Relationship Type="http://schemas.openxmlformats.org/officeDocument/2006/relationships/slide" Target="/ppt/slides/slide1.xml" Id="R885845c183964bcb" /><Relationship Type="http://schemas.openxmlformats.org/officeDocument/2006/relationships/slide" Target="/ppt/slides/slide2.xml" Id="R815535ac5dbd4310" /><Relationship Type="http://schemas.openxmlformats.org/officeDocument/2006/relationships/slide" Target="/ppt/slides/slide3.xml" Id="R21d41ba06b7745fa" /><Relationship Type="http://schemas.openxmlformats.org/officeDocument/2006/relationships/slide" Target="/ppt/slides/slide4.xml" Id="R36a606860d9b47ba" /><Relationship Type="http://schemas.openxmlformats.org/officeDocument/2006/relationships/slide" Target="/ppt/slides/slide5.xml" Id="Ra89c148f2e3a4631" /><Relationship Type="http://schemas.openxmlformats.org/officeDocument/2006/relationships/slide" Target="/ppt/slides/slide6.xml" Id="R66df307c529d46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820c249c8b4a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98ff0c376a4a05" /><Relationship Type="http://schemas.openxmlformats.org/officeDocument/2006/relationships/notesMaster" Target="/ppt/notesMasters/notesMaster1.xml" Id="R111f9059a9bc45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1f6079651849de" /><Relationship Type="http://schemas.openxmlformats.org/officeDocument/2006/relationships/notesMaster" Target="/ppt/notesMasters/notesMaster1.xml" Id="Rfdef9b3cd51944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ea705aabea44cb" /><Relationship Type="http://schemas.openxmlformats.org/officeDocument/2006/relationships/notesMaster" Target="/ppt/notesMasters/notesMaster1.xml" Id="R3aead54d784f49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c60c75ee524e45" /><Relationship Type="http://schemas.openxmlformats.org/officeDocument/2006/relationships/notesMaster" Target="/ppt/notesMasters/notesMaster1.xml" Id="R18f478a817734e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c81f8b36ac4ffd" /><Relationship Type="http://schemas.openxmlformats.org/officeDocument/2006/relationships/notesMaster" Target="/ppt/notesMasters/notesMaster1.xml" Id="Re91a1125c6cf41e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4ed79112ec4b5a" /><Relationship Type="http://schemas.openxmlformats.org/officeDocument/2006/relationships/notesMaster" Target="/ppt/notesMasters/notesMaster1.xml" Id="Rdb1ecc3b2e2f43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A resident needs an answer, but public information is spread across many sites. Envoy helps them find the official source, understand the next step, and raise a concern without guessing who receives it. Source: https://tracker.hackthehill.com/resources.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0:20–0:48. We serve residents navigating Canadian public services and opportunities. The institutions are official public publishers of jobs, services, and programs. Envoy links to those publishers. Reports submitted here today reach Envoy’s own review team. No municipality or employer participates yet. Civic track guidance: https://tracker.hackthehill.com/resources.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0:48–3:50. Switch to the prepared browser. Search Jobs for an individual Ottawa vacancy and show source and closing date. Nearby: select an official service. Ask the assistant about a truthful product concern, review the editable proposal and Envoy destination, then submit once and show the private receipt. If AI is slow, use the prepared Feedback form. A source link does not submit an external application. See docs/judging/demo-runbook.md.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3:50–4:40. One Cloudflare Worker serves the web app and /api. D1 stores sourced records, transactions, receipts, and an idempotent outbox; R2 is a private asset store. Workers AI proposes through typed tools. The Worker validates scope and approval before writes. The outbox sends privacy-limited metadata to Tiger Data for trends, not report message bodies. Technical evidence: docs/worker-platform.md; docs/agents/conversations.md; docs/analytics/tiger-data.md. The presentation rubric assigns Technical Execution 15 of 45 points: https://tracker.hackthehill.com/resources.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4:40–5:00. The result is a clearer public-service handoff with a visible source and a truthful destination. Open envoy.surf and try the same path. We are ready for questions. Verify the custom domain before the presentation. Organizer format: 5-minute presentation and demo plus 3-minute Q&amp;A: https://tracker.hackthehill.com/resources.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not part of the five-minute pitch. Tiger Data has dated delivery evidence; refresh a read-only query for the panel. Auth0 hosted sign-in and Worker JWT rejection have evidence, but a real staff-role action is not accepted. ElevenLabs has a private agent and signed URL, but a full conversation-to-feedback run is not accepted. Presage compiles in SwiftUI; stable physical device signal is not accepted. See docs/submission-checklist.md and docs/judging/q-and-a.md. Never claim provider live acceptance from configuration or simulator footage.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d4f4074dd645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ebdcda38fc4d6f" /><Relationship Type="http://schemas.openxmlformats.org/officeDocument/2006/relationships/slideLayout" Target="/ppt/slideLayouts/slideLayout1.xml" Id="R6b57edb5da8c45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57edb5da8c45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d3a5da61ab4f58" /><Relationship Type="http://schemas.openxmlformats.org/officeDocument/2006/relationships/notesSlide" Target="/ppt/notesSlides/notesSlide1.xml" Id="R788404b537f94b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fdb0203b72478b" /><Relationship Type="http://schemas.openxmlformats.org/officeDocument/2006/relationships/notesSlide" Target="/ppt/notesSlides/notesSlide2.xml" Id="R05af1f4e514d43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40aecf0da34bed" /><Relationship Type="http://schemas.openxmlformats.org/officeDocument/2006/relationships/image" Target="/ppt/media/image.png" Id="R810408ac64be42ff" /><Relationship Type="http://schemas.openxmlformats.org/officeDocument/2006/relationships/notesSlide" Target="/ppt/notesSlides/notesSlide3.xml" Id="R378f81fb366440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e89466cef14bfc" /><Relationship Type="http://schemas.openxmlformats.org/officeDocument/2006/relationships/notesSlide" Target="/ppt/notesSlides/notesSlide4.xml" Id="R98199109762b46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0dc28f7dab42ef" /><Relationship Type="http://schemas.openxmlformats.org/officeDocument/2006/relationships/notesSlide" Target="/ppt/notesSlides/notesSlide5.xml" Id="Refc99a08316f47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ef06a7921454344" /><Relationship Type="http://schemas.openxmlformats.org/officeDocument/2006/relationships/notesSlide" Target="/ppt/notesSlides/notesSlide6.xml" Id="R1e107d4bb30b45bc" /></Relationships>
</file>

<file path=ppt/slides/slide1.xml><?xml version="1.0" encoding="utf-8"?>
<p:sld xmlns:p="http://schemas.openxmlformats.org/presentationml/2006/main">
  <p:cSld>
    <p:bg>
      <p:bgPr>
        <a:solidFill xmlns:a="http://schemas.openxmlformats.org/drawingml/2006/main">
          <a:srgbClr val="17171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53B4DB3-7499-4251-B952-D191FE79FEF4}"/>
              </a:ext>
            </a:extLst>
          </p:cNvPr>
          <p:cNvSpPr>
            <a:spLocks xmlns:a="http://schemas.openxmlformats.org/drawingml/2006/main" noGrp="1"/>
          </p:cNvSpPr>
          <p:nvPr/>
        </p:nvSpPr>
        <p:spPr>
          <a:xfrm xmlns:a="http://schemas.openxmlformats.org/drawingml/2006/main">
            <a:off x="781050" y="1371600"/>
            <a:ext cx="857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150" b="1">
                <a:solidFill>
                  <a:srgbClr val="FFFFFF"/>
                </a:solidFill>
                <a:latin typeface="Arial"/>
                <a:ea typeface="Arial"/>
                <a:cs typeface="Arial"/>
              </a:defRPr>
            </a:pPr>
            <a:r>
              <a:rPr sz="9150" b="1">
                <a:solidFill>
                  <a:srgbClr val="FFFFFF"/>
                </a:solidFill>
                <a:latin typeface="Arial"/>
                <a:ea typeface="Arial"/>
                <a:cs typeface="Arial"/>
              </a:rPr>
              <a:t>envoy</a:t>
            </a:r>
          </a:p>
        </p:txBody>
      </p:sp>
      <p:sp>
        <p:nvSpPr>
          <p:cNvPr id="2" name="">
            <a:extLst xmlns:a="http://schemas.openxmlformats.org/drawingml/2006/main">
              <a:ext uri="{FF2B5EF4-FFF2-40B4-BE49-F238E27FC236}">
                <a16:creationId xmlns:a16="http://schemas.microsoft.com/office/drawing/2014/main" id="{0F9E857F-FF60-488D-9A33-54BD8CDC7A65}"/>
              </a:ext>
            </a:extLst>
          </p:cNvPr>
          <p:cNvSpPr>
            <a:spLocks xmlns:a="http://schemas.openxmlformats.org/drawingml/2006/main" noGrp="1"/>
          </p:cNvSpPr>
          <p:nvPr/>
        </p:nvSpPr>
        <p:spPr>
          <a:xfrm xmlns:a="http://schemas.openxmlformats.org/drawingml/2006/main">
            <a:off x="838200" y="2952750"/>
            <a:ext cx="1028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Public services, clearer next steps</a:t>
            </a:r>
          </a:p>
        </p:txBody>
      </p:sp>
      <p:sp>
        <p:nvSpPr>
          <p:cNvPr id="3" name="">
            <a:extLst xmlns:a="http://schemas.openxmlformats.org/drawingml/2006/main">
              <a:ext uri="{FF2B5EF4-FFF2-40B4-BE49-F238E27FC236}">
                <a16:creationId xmlns:a16="http://schemas.microsoft.com/office/drawing/2014/main" id="{74D5F8A9-D8A1-42B5-9523-CFC9B385DDD1}"/>
              </a:ext>
            </a:extLst>
          </p:cNvPr>
          <p:cNvSpPr>
            <a:spLocks xmlns:a="http://schemas.openxmlformats.org/drawingml/2006/main" noGrp="1"/>
          </p:cNvSpPr>
          <p:nvPr/>
        </p:nvSpPr>
        <p:spPr>
          <a:xfrm xmlns:a="http://schemas.openxmlformats.org/drawingml/2006/main">
            <a:off x="838200" y="55435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ECECE"/>
                </a:solidFill>
                <a:latin typeface="Arial"/>
                <a:ea typeface="Arial"/>
                <a:cs typeface="Arial"/>
              </a:defRPr>
            </a:pPr>
            <a:r>
              <a:rPr sz="1725" b="0">
                <a:solidFill>
                  <a:srgbClr val="CECECE"/>
                </a:solidFill>
                <a:latin typeface="Arial"/>
                <a:ea typeface="Arial"/>
                <a:cs typeface="Arial"/>
              </a:rPr>
              <a:t>Hack the Hill III  /  Civic Technology</a:t>
            </a:r>
          </a:p>
        </p:txBody>
      </p:sp>
      <p:sp>
        <p:nvSpPr>
          <p:cNvPr id="4" name="">
            <a:extLst xmlns:a="http://schemas.openxmlformats.org/drawingml/2006/main">
              <a:ext uri="{FF2B5EF4-FFF2-40B4-BE49-F238E27FC236}">
                <a16:creationId xmlns:a16="http://schemas.microsoft.com/office/drawing/2014/main" id="{60808168-C528-488F-BBAF-0F96F94B447E}"/>
              </a:ext>
            </a:extLst>
          </p:cNvPr>
          <p:cNvSpPr>
            <a:spLocks xmlns:a="http://schemas.openxmlformats.org/drawingml/2006/main" noGrp="1"/>
          </p:cNvSpPr>
          <p:nvPr/>
        </p:nvSpPr>
        <p:spPr>
          <a:xfrm xmlns:a="http://schemas.openxmlformats.org/drawingml/2006/main">
            <a:off x="4019550" y="1200150"/>
            <a:ext cx="1143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0" b="1">
                <a:solidFill>
                  <a:srgbClr val="D54438"/>
                </a:solidFill>
                <a:latin typeface="Arial"/>
                <a:ea typeface="Arial"/>
                <a:cs typeface="Arial"/>
              </a:defRPr>
            </a:pPr>
            <a:r>
              <a:rPr sz="9750" b="1">
                <a:solidFill>
                  <a:srgbClr val="D54438"/>
                </a:solidFill>
                <a:latin typeface="Arial"/>
                <a:ea typeface="Arial"/>
                <a:cs typeface="Arial"/>
              </a:rPr>
              <a:t>.</a:t>
            </a:r>
          </a:p>
        </p:txBody>
      </p:sp>
    </p:spTree>
    <p:extLst>
      <p:ext uri="{BB962C8B-B14F-4D97-AF65-F5344CB8AC3E}">
        <p14:creationId xmlns:p14="http://schemas.microsoft.com/office/powerpoint/2010/main" val="379512552"/>
      </p:ext>
    </p:extLst>
  </p:cSld>
</p:sld>
</file>

<file path=ppt/slides/slide2.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4903DB-7E75-45F7-A490-A8FE92104387}"/>
              </a:ext>
            </a:extLst>
          </p:cNvPr>
          <p:cNvSpPr>
            <a:spLocks xmlns:a="http://schemas.openxmlformats.org/drawingml/2006/main" noGrp="1"/>
          </p:cNvSpPr>
          <p:nvPr/>
        </p:nvSpPr>
        <p:spPr>
          <a:xfrm xmlns:a="http://schemas.openxmlformats.org/drawingml/2006/main">
            <a:off x="742950" y="6667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1717"/>
                </a:solidFill>
                <a:latin typeface="Arial"/>
                <a:ea typeface="Arial"/>
                <a:cs typeface="Arial"/>
              </a:defRPr>
            </a:pPr>
            <a:r>
              <a:rPr sz="4875" b="1">
                <a:solidFill>
                  <a:srgbClr val="171717"/>
                </a:solidFill>
                <a:latin typeface="Arial"/>
                <a:ea typeface="Arial"/>
                <a:cs typeface="Arial"/>
              </a:rPr>
              <a:t>The civic handoff</a:t>
            </a:r>
          </a:p>
        </p:txBody>
      </p:sp>
      <p:sp>
        <p:nvSpPr>
          <p:cNvPr id="2" name="">
            <a:extLst xmlns:a="http://schemas.openxmlformats.org/drawingml/2006/main">
              <a:ext uri="{FF2B5EF4-FFF2-40B4-BE49-F238E27FC236}">
                <a16:creationId xmlns:a16="http://schemas.microsoft.com/office/drawing/2014/main" id="{03EB9312-010F-4A46-87E5-6A4A098D29CC}"/>
              </a:ext>
            </a:extLst>
          </p:cNvPr>
          <p:cNvSpPr>
            <a:spLocks xmlns:a="http://schemas.openxmlformats.org/drawingml/2006/main" noGrp="1"/>
          </p:cNvSpPr>
          <p:nvPr/>
        </p:nvSpPr>
        <p:spPr>
          <a:xfrm xmlns:a="http://schemas.openxmlformats.org/drawingml/2006/main">
            <a:off x="762000" y="20193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0">
                <a:solidFill>
                  <a:srgbClr val="171717"/>
                </a:solidFill>
                <a:latin typeface="Arial"/>
                <a:ea typeface="Arial"/>
                <a:cs typeface="Arial"/>
              </a:defRPr>
            </a:pPr>
            <a:r>
              <a:rPr sz="3075" b="0">
                <a:solidFill>
                  <a:srgbClr val="171717"/>
                </a:solidFill>
                <a:latin typeface="Arial"/>
                <a:ea typeface="Arial"/>
                <a:cs typeface="Arial"/>
              </a:rPr>
              <a:t>People need the right public source.</a:t>
            </a:r>
          </a:p>
        </p:txBody>
      </p:sp>
      <p:sp>
        <p:nvSpPr>
          <p:cNvPr id="3" name="">
            <a:extLst xmlns:a="http://schemas.openxmlformats.org/drawingml/2006/main">
              <a:ext uri="{FF2B5EF4-FFF2-40B4-BE49-F238E27FC236}">
                <a16:creationId xmlns:a16="http://schemas.microsoft.com/office/drawing/2014/main" id="{C9E29727-9D6B-4FF4-AF17-ED4A19E9E8F4}"/>
              </a:ext>
            </a:extLst>
          </p:cNvPr>
          <p:cNvSpPr>
            <a:spLocks xmlns:a="http://schemas.openxmlformats.org/drawingml/2006/main" noGrp="1"/>
          </p:cNvSpPr>
          <p:nvPr/>
        </p:nvSpPr>
        <p:spPr>
          <a:xfrm xmlns:a="http://schemas.openxmlformats.org/drawingml/2006/main">
            <a:off x="762000" y="2857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0">
                <a:solidFill>
                  <a:srgbClr val="171717"/>
                </a:solidFill>
                <a:latin typeface="Arial"/>
                <a:ea typeface="Arial"/>
                <a:cs typeface="Arial"/>
              </a:defRPr>
            </a:pPr>
            <a:r>
              <a:rPr sz="3075" b="0">
                <a:solidFill>
                  <a:srgbClr val="171717"/>
                </a:solidFill>
                <a:latin typeface="Arial"/>
                <a:ea typeface="Arial"/>
                <a:cs typeface="Arial"/>
              </a:rPr>
              <a:t>They need to know who receives an action.</a:t>
            </a:r>
          </a:p>
        </p:txBody>
      </p:sp>
      <p:sp>
        <p:nvSpPr>
          <p:cNvPr id="4" name="">
            <a:extLst xmlns:a="http://schemas.openxmlformats.org/drawingml/2006/main">
              <a:ext uri="{FF2B5EF4-FFF2-40B4-BE49-F238E27FC236}">
                <a16:creationId xmlns:a16="http://schemas.microsoft.com/office/drawing/2014/main" id="{8DCE51C1-AE5F-46E1-B50B-2C0B98D90A3F}"/>
              </a:ext>
            </a:extLst>
          </p:cNvPr>
          <p:cNvSpPr>
            <a:spLocks xmlns:a="http://schemas.openxmlformats.org/drawingml/2006/main" noGrp="1"/>
          </p:cNvSpPr>
          <p:nvPr/>
        </p:nvSpPr>
        <p:spPr>
          <a:xfrm xmlns:a="http://schemas.openxmlformats.org/drawingml/2006/main">
            <a:off x="762000" y="36957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0">
                <a:solidFill>
                  <a:srgbClr val="171717"/>
                </a:solidFill>
                <a:latin typeface="Arial"/>
                <a:ea typeface="Arial"/>
                <a:cs typeface="Arial"/>
              </a:defRPr>
            </a:pPr>
            <a:r>
              <a:rPr sz="3075" b="0">
                <a:solidFill>
                  <a:srgbClr val="171717"/>
                </a:solidFill>
                <a:latin typeface="Arial"/>
                <a:ea typeface="Arial"/>
                <a:cs typeface="Arial"/>
              </a:rPr>
              <a:t>Envoy makes both visible before they continue.</a:t>
            </a:r>
          </a:p>
        </p:txBody>
      </p:sp>
      <p:sp>
        <p:nvSpPr>
          <p:cNvPr id="5" name="">
            <a:extLst xmlns:a="http://schemas.openxmlformats.org/drawingml/2006/main">
              <a:ext uri="{FF2B5EF4-FFF2-40B4-BE49-F238E27FC236}">
                <a16:creationId xmlns:a16="http://schemas.microsoft.com/office/drawing/2014/main" id="{55D7547B-9588-47D0-B9E1-8F1FC8AB24AD}"/>
              </a:ext>
            </a:extLst>
          </p:cNvPr>
          <p:cNvSpPr>
            <a:spLocks xmlns:a="http://schemas.openxmlformats.org/drawingml/2006/main" noGrp="1"/>
          </p:cNvSpPr>
          <p:nvPr/>
        </p:nvSpPr>
        <p:spPr>
          <a:xfrm xmlns:a="http://schemas.openxmlformats.org/drawingml/2006/main">
            <a:off x="781050" y="53911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Official applications stay with publishers. Reports here reach Envoy’s review team.</a:t>
            </a:r>
          </a:p>
        </p:txBody>
      </p:sp>
    </p:spTree>
    <p:extLst>
      <p:ext uri="{BB962C8B-B14F-4D97-AF65-F5344CB8AC3E}">
        <p14:creationId xmlns:p14="http://schemas.microsoft.com/office/powerpoint/2010/main" val="9940905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403E43-BA80-4680-B6CB-09A847980033}"/>
              </a:ext>
            </a:extLst>
          </p:cNvPr>
          <p:cNvSpPr>
            <a:spLocks xmlns:a="http://schemas.openxmlformats.org/drawingml/2006/main" noGrp="1"/>
          </p:cNvSpPr>
          <p:nvPr/>
        </p:nvSpPr>
        <p:spPr>
          <a:xfrm xmlns:a="http://schemas.openxmlformats.org/drawingml/2006/main">
            <a:off x="723900" y="590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71717"/>
                </a:solidFill>
                <a:latin typeface="Arial"/>
                <a:ea typeface="Arial"/>
                <a:cs typeface="Arial"/>
              </a:defRPr>
            </a:pPr>
            <a:r>
              <a:rPr sz="4800" b="1">
                <a:solidFill>
                  <a:srgbClr val="171717"/>
                </a:solidFill>
                <a:latin typeface="Arial"/>
                <a:ea typeface="Arial"/>
                <a:cs typeface="Arial"/>
              </a:rPr>
              <a:t>A resident path, live</a:t>
            </a:r>
          </a:p>
        </p:txBody>
      </p:sp>
      <p:sp>
        <p:nvSpPr>
          <p:cNvPr id="2" name="">
            <a:extLst xmlns:a="http://schemas.openxmlformats.org/drawingml/2006/main">
              <a:ext uri="{FF2B5EF4-FFF2-40B4-BE49-F238E27FC236}">
                <a16:creationId xmlns:a16="http://schemas.microsoft.com/office/drawing/2014/main" id="{7828C140-591E-4CD2-9BCF-E8CB298D7CCF}"/>
              </a:ext>
            </a:extLst>
          </p:cNvPr>
          <p:cNvSpPr>
            <a:spLocks xmlns:a="http://schemas.openxmlformats.org/drawingml/2006/main" noGrp="1"/>
          </p:cNvSpPr>
          <p:nvPr/>
        </p:nvSpPr>
        <p:spPr>
          <a:xfrm xmlns:a="http://schemas.openxmlformats.org/drawingml/2006/main">
            <a:off x="742950" y="1971675"/>
            <a:ext cx="405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717"/>
                </a:solidFill>
                <a:latin typeface="Arial"/>
                <a:ea typeface="Arial"/>
                <a:cs typeface="Arial"/>
              </a:defRPr>
            </a:pPr>
            <a:r>
              <a:rPr sz="2325" b="0">
                <a:solidFill>
                  <a:srgbClr val="171717"/>
                </a:solidFill>
                <a:latin typeface="Arial"/>
                <a:ea typeface="Arial"/>
                <a:cs typeface="Arial"/>
              </a:rPr>
              <a:t>1   Find a current role</a:t>
            </a:r>
          </a:p>
        </p:txBody>
      </p:sp>
      <p:sp>
        <p:nvSpPr>
          <p:cNvPr id="3" name="">
            <a:extLst xmlns:a="http://schemas.openxmlformats.org/drawingml/2006/main">
              <a:ext uri="{FF2B5EF4-FFF2-40B4-BE49-F238E27FC236}">
                <a16:creationId xmlns:a16="http://schemas.microsoft.com/office/drawing/2014/main" id="{E8F1A515-3CBA-41BC-AB75-ADF4E6566DB7}"/>
              </a:ext>
            </a:extLst>
          </p:cNvPr>
          <p:cNvSpPr>
            <a:spLocks xmlns:a="http://schemas.openxmlformats.org/drawingml/2006/main" noGrp="1"/>
          </p:cNvSpPr>
          <p:nvPr/>
        </p:nvSpPr>
        <p:spPr>
          <a:xfrm xmlns:a="http://schemas.openxmlformats.org/drawingml/2006/main">
            <a:off x="742950" y="2924175"/>
            <a:ext cx="405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717"/>
                </a:solidFill>
                <a:latin typeface="Arial"/>
                <a:ea typeface="Arial"/>
                <a:cs typeface="Arial"/>
              </a:defRPr>
            </a:pPr>
            <a:r>
              <a:rPr sz="2325" b="0">
                <a:solidFill>
                  <a:srgbClr val="171717"/>
                </a:solidFill>
                <a:latin typeface="Arial"/>
                <a:ea typeface="Arial"/>
                <a:cs typeface="Arial"/>
              </a:rPr>
              <a:t>2   Locate a service</a:t>
            </a:r>
          </a:p>
        </p:txBody>
      </p:sp>
      <p:sp>
        <p:nvSpPr>
          <p:cNvPr id="4" name="">
            <a:extLst xmlns:a="http://schemas.openxmlformats.org/drawingml/2006/main">
              <a:ext uri="{FF2B5EF4-FFF2-40B4-BE49-F238E27FC236}">
                <a16:creationId xmlns:a16="http://schemas.microsoft.com/office/drawing/2014/main" id="{D3484B0A-E7B2-44A6-B527-4BE697CA87E8}"/>
              </a:ext>
            </a:extLst>
          </p:cNvPr>
          <p:cNvSpPr>
            <a:spLocks xmlns:a="http://schemas.openxmlformats.org/drawingml/2006/main" noGrp="1"/>
          </p:cNvSpPr>
          <p:nvPr/>
        </p:nvSpPr>
        <p:spPr>
          <a:xfrm xmlns:a="http://schemas.openxmlformats.org/drawingml/2006/main">
            <a:off x="742950" y="3876675"/>
            <a:ext cx="405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717"/>
                </a:solidFill>
                <a:latin typeface="Arial"/>
                <a:ea typeface="Arial"/>
                <a:cs typeface="Arial"/>
              </a:defRPr>
            </a:pPr>
            <a:r>
              <a:rPr sz="2325" b="0">
                <a:solidFill>
                  <a:srgbClr val="171717"/>
                </a:solidFill>
                <a:latin typeface="Arial"/>
                <a:ea typeface="Arial"/>
                <a:cs typeface="Arial"/>
              </a:rPr>
              <a:t>3   Review a concern</a:t>
            </a:r>
          </a:p>
        </p:txBody>
      </p:sp>
      <p:sp>
        <p:nvSpPr>
          <p:cNvPr id="5" name="">
            <a:extLst xmlns:a="http://schemas.openxmlformats.org/drawingml/2006/main">
              <a:ext uri="{FF2B5EF4-FFF2-40B4-BE49-F238E27FC236}">
                <a16:creationId xmlns:a16="http://schemas.microsoft.com/office/drawing/2014/main" id="{899FCB62-7E86-4A89-B159-7DB4A567145E}"/>
              </a:ext>
            </a:extLst>
          </p:cNvPr>
          <p:cNvSpPr>
            <a:spLocks xmlns:a="http://schemas.openxmlformats.org/drawingml/2006/main" noGrp="1"/>
          </p:cNvSpPr>
          <p:nvPr/>
        </p:nvSpPr>
        <p:spPr>
          <a:xfrm xmlns:a="http://schemas.openxmlformats.org/drawingml/2006/main">
            <a:off x="752475" y="5553075"/>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54438"/>
                </a:solidFill>
                <a:latin typeface="Arial"/>
                <a:ea typeface="Arial"/>
                <a:cs typeface="Arial"/>
              </a:defRPr>
            </a:pPr>
            <a:r>
              <a:rPr sz="2325" b="1">
                <a:solidFill>
                  <a:srgbClr val="D54438"/>
                </a:solidFill>
                <a:latin typeface="Arial"/>
                <a:ea typeface="Arial"/>
                <a:cs typeface="Arial"/>
              </a:rPr>
              <a:t>Open envoy.surf</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10408ac64be42ff"/>
          <a:srcRect xmlns:a="http://schemas.openxmlformats.org/drawingml/2006/main" l="360" t="0" r="360" b="0"/>
          <a:stretch xmlns:a="http://schemas.openxmlformats.org/drawingml/2006/main">
            <a:fillRect l="0" t="0" r="0" b="0"/>
          </a:stretch>
        </p:blipFill>
        <p:spPr>
          <a:xfrm xmlns:a="http://schemas.openxmlformats.org/drawingml/2006/main">
            <a:off x="4953000" y="1619250"/>
            <a:ext cx="6667500" cy="4524375"/>
          </a:xfrm>
          <a:prstGeom xmlns:a="http://schemas.openxmlformats.org/drawingml/2006/main" prst="rect">
            <a:avLst/>
          </a:prstGeom>
        </p:spPr>
      </p:pic>
    </p:spTree>
    <p:extLst>
      <p:ext uri="{BB962C8B-B14F-4D97-AF65-F5344CB8AC3E}">
        <p14:creationId xmlns:p14="http://schemas.microsoft.com/office/powerpoint/2010/main" val="948133418"/>
      </p:ext>
    </p:extLst>
  </p:cSld>
</p:sld>
</file>

<file path=ppt/slides/slide4.xml><?xml version="1.0" encoding="utf-8"?>
<p:sld xmlns:p="http://schemas.openxmlformats.org/presentationml/2006/main">
  <p:cSld>
    <p:bg>
      <p:bgPr>
        <a:solidFill xmlns:a="http://schemas.openxmlformats.org/drawingml/2006/main">
          <a:srgbClr val="17171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AFE3A53-262C-4BA1-8FDE-21D082670D3B}"/>
              </a:ext>
            </a:extLst>
          </p:cNvPr>
          <p:cNvSpPr>
            <a:spLocks xmlns:a="http://schemas.openxmlformats.org/drawingml/2006/main" noGrp="1"/>
          </p:cNvSpPr>
          <p:nvPr/>
        </p:nvSpPr>
        <p:spPr>
          <a:xfrm xmlns:a="http://schemas.openxmlformats.org/drawingml/2006/main">
            <a:off x="723900" y="57150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One Worker, clear boundaries</a:t>
            </a:r>
          </a:p>
        </p:txBody>
      </p:sp>
      <p:sp>
        <p:nvSpPr>
          <p:cNvPr id="2" name="">
            <a:extLst xmlns:a="http://schemas.openxmlformats.org/drawingml/2006/main">
              <a:ext uri="{FF2B5EF4-FFF2-40B4-BE49-F238E27FC236}">
                <a16:creationId xmlns:a16="http://schemas.microsoft.com/office/drawing/2014/main" id="{495DD395-2C97-4048-902B-BABC299060DD}"/>
              </a:ext>
            </a:extLst>
          </p:cNvPr>
          <p:cNvSpPr>
            <a:spLocks xmlns:a="http://schemas.openxmlformats.org/drawingml/2006/main" noGrp="1"/>
          </p:cNvSpPr>
          <p:nvPr/>
        </p:nvSpPr>
        <p:spPr>
          <a:xfrm xmlns:a="http://schemas.openxmlformats.org/drawingml/2006/main">
            <a:off x="781050" y="19621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Official sources</a:t>
            </a:r>
          </a:p>
        </p:txBody>
      </p:sp>
      <p:sp>
        <p:nvSpPr>
          <p:cNvPr id="3" name="">
            <a:extLst xmlns:a="http://schemas.openxmlformats.org/drawingml/2006/main">
              <a:ext uri="{FF2B5EF4-FFF2-40B4-BE49-F238E27FC236}">
                <a16:creationId xmlns:a16="http://schemas.microsoft.com/office/drawing/2014/main" id="{53D8C944-EBE5-4471-AEC4-9EEF97D754E2}"/>
              </a:ext>
            </a:extLst>
          </p:cNvPr>
          <p:cNvSpPr>
            <a:spLocks xmlns:a="http://schemas.openxmlformats.org/drawingml/2006/main" noGrp="1"/>
          </p:cNvSpPr>
          <p:nvPr/>
        </p:nvSpPr>
        <p:spPr>
          <a:xfrm xmlns:a="http://schemas.openxmlformats.org/drawingml/2006/main">
            <a:off x="781050" y="2638425"/>
            <a:ext cx="31432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Publisher link</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Freshness</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Individual records</a:t>
            </a:r>
          </a:p>
        </p:txBody>
      </p:sp>
      <p:sp>
        <p:nvSpPr>
          <p:cNvPr id="4" name="">
            <a:extLst xmlns:a="http://schemas.openxmlformats.org/drawingml/2006/main">
              <a:ext uri="{FF2B5EF4-FFF2-40B4-BE49-F238E27FC236}">
                <a16:creationId xmlns:a16="http://schemas.microsoft.com/office/drawing/2014/main" id="{D44E817A-5612-4FCB-80A8-717DEB66F98E}"/>
              </a:ext>
            </a:extLst>
          </p:cNvPr>
          <p:cNvSpPr>
            <a:spLocks xmlns:a="http://schemas.openxmlformats.org/drawingml/2006/main" noGrp="1"/>
          </p:cNvSpPr>
          <p:nvPr/>
        </p:nvSpPr>
        <p:spPr>
          <a:xfrm xmlns:a="http://schemas.openxmlformats.org/drawingml/2006/main">
            <a:off x="4429125" y="1962150"/>
            <a:ext cx="321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Agent actions</a:t>
            </a:r>
          </a:p>
        </p:txBody>
      </p:sp>
      <p:sp>
        <p:nvSpPr>
          <p:cNvPr id="5" name="">
            <a:extLst xmlns:a="http://schemas.openxmlformats.org/drawingml/2006/main">
              <a:ext uri="{FF2B5EF4-FFF2-40B4-BE49-F238E27FC236}">
                <a16:creationId xmlns:a16="http://schemas.microsoft.com/office/drawing/2014/main" id="{A4DF8144-E0BC-44E8-89F7-CDAE5E7DEABC}"/>
              </a:ext>
            </a:extLst>
          </p:cNvPr>
          <p:cNvSpPr>
            <a:spLocks xmlns:a="http://schemas.openxmlformats.org/drawingml/2006/main" noGrp="1"/>
          </p:cNvSpPr>
          <p:nvPr/>
        </p:nvSpPr>
        <p:spPr>
          <a:xfrm xmlns:a="http://schemas.openxmlformats.org/drawingml/2006/main">
            <a:off x="4429125" y="2638425"/>
            <a:ext cx="3381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Workers AI + typed tools</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Human approval</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Worker role checks</a:t>
            </a:r>
          </a:p>
        </p:txBody>
      </p:sp>
      <p:sp>
        <p:nvSpPr>
          <p:cNvPr id="6" name="">
            <a:extLst xmlns:a="http://schemas.openxmlformats.org/drawingml/2006/main">
              <a:ext uri="{FF2B5EF4-FFF2-40B4-BE49-F238E27FC236}">
                <a16:creationId xmlns:a16="http://schemas.microsoft.com/office/drawing/2014/main" id="{B340DD51-A6F8-41A7-8D41-548CD68E6397}"/>
              </a:ext>
            </a:extLst>
          </p:cNvPr>
          <p:cNvSpPr>
            <a:spLocks xmlns:a="http://schemas.openxmlformats.org/drawingml/2006/main" noGrp="1"/>
          </p:cNvSpPr>
          <p:nvPr/>
        </p:nvSpPr>
        <p:spPr>
          <a:xfrm xmlns:a="http://schemas.openxmlformats.org/drawingml/2006/main">
            <a:off x="8172450" y="19621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Private proof</a:t>
            </a:r>
          </a:p>
        </p:txBody>
      </p:sp>
      <p:sp>
        <p:nvSpPr>
          <p:cNvPr id="7" name="">
            <a:extLst xmlns:a="http://schemas.openxmlformats.org/drawingml/2006/main">
              <a:ext uri="{FF2B5EF4-FFF2-40B4-BE49-F238E27FC236}">
                <a16:creationId xmlns:a16="http://schemas.microsoft.com/office/drawing/2014/main" id="{EF635A82-7898-4129-9510-261CA7B8BA47}"/>
              </a:ext>
            </a:extLst>
          </p:cNvPr>
          <p:cNvSpPr>
            <a:spLocks xmlns:a="http://schemas.openxmlformats.org/drawingml/2006/main" noGrp="1"/>
          </p:cNvSpPr>
          <p:nvPr/>
        </p:nvSpPr>
        <p:spPr>
          <a:xfrm xmlns:a="http://schemas.openxmlformats.org/drawingml/2006/main">
            <a:off x="8172450" y="2638425"/>
            <a:ext cx="31432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D1 receipt and outbox</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R2 private files</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Tiger event trends</a:t>
            </a:r>
          </a:p>
        </p:txBody>
      </p:sp>
      <p:sp>
        <p:nvSpPr>
          <p:cNvPr id="8" name="">
            <a:extLst xmlns:a="http://schemas.openxmlformats.org/drawingml/2006/main">
              <a:ext uri="{FF2B5EF4-FFF2-40B4-BE49-F238E27FC236}">
                <a16:creationId xmlns:a16="http://schemas.microsoft.com/office/drawing/2014/main" id="{FCC646F2-3E1F-4922-9569-A816CB51766E}"/>
              </a:ext>
            </a:extLst>
          </p:cNvPr>
          <p:cNvSpPr>
            <a:spLocks xmlns:a="http://schemas.openxmlformats.org/drawingml/2006/main" noGrp="1"/>
          </p:cNvSpPr>
          <p:nvPr/>
        </p:nvSpPr>
        <p:spPr>
          <a:xfrm xmlns:a="http://schemas.openxmlformats.org/drawingml/2006/main">
            <a:off x="781050" y="544830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9D95"/>
                </a:solidFill>
                <a:latin typeface="Arial"/>
                <a:ea typeface="Arial"/>
                <a:cs typeface="Arial"/>
              </a:defRPr>
            </a:pPr>
            <a:r>
              <a:rPr sz="2250" b="0">
                <a:solidFill>
                  <a:srgbClr val="F39D95"/>
                </a:solidFill>
                <a:latin typeface="Arial"/>
                <a:ea typeface="Arial"/>
                <a:cs typeface="Arial"/>
              </a:rPr>
              <a:t>Report text stays out of analytics events.</a:t>
            </a:r>
          </a:p>
        </p:txBody>
      </p:sp>
    </p:spTree>
    <p:extLst>
      <p:ext uri="{BB962C8B-B14F-4D97-AF65-F5344CB8AC3E}">
        <p14:creationId xmlns:p14="http://schemas.microsoft.com/office/powerpoint/2010/main" val="605533775"/>
      </p:ext>
    </p:extLst>
  </p:cSld>
</p:sld>
</file>

<file path=ppt/slides/slide5.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6428A6D-B25C-43DE-8514-7128F82CCDAF}"/>
              </a:ext>
            </a:extLst>
          </p:cNvPr>
          <p:cNvSpPr>
            <a:spLocks xmlns:a="http://schemas.openxmlformats.org/drawingml/2006/main" noGrp="1"/>
          </p:cNvSpPr>
          <p:nvPr/>
        </p:nvSpPr>
        <p:spPr>
          <a:xfrm xmlns:a="http://schemas.openxmlformats.org/drawingml/2006/main">
            <a:off x="723900" y="1809750"/>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100" b="1">
                <a:solidFill>
                  <a:srgbClr val="171717"/>
                </a:solidFill>
                <a:latin typeface="Arial"/>
                <a:ea typeface="Arial"/>
                <a:cs typeface="Arial"/>
              </a:defRPr>
            </a:pPr>
            <a:r>
              <a:rPr sz="8100" b="1">
                <a:solidFill>
                  <a:srgbClr val="171717"/>
                </a:solidFill>
                <a:latin typeface="Arial"/>
                <a:ea typeface="Arial"/>
                <a:cs typeface="Arial"/>
              </a:rPr>
              <a:t>envoy.surf</a:t>
            </a:r>
          </a:p>
        </p:txBody>
      </p:sp>
      <p:sp>
        <p:nvSpPr>
          <p:cNvPr id="2" name="">
            <a:extLst xmlns:a="http://schemas.openxmlformats.org/drawingml/2006/main">
              <a:ext uri="{FF2B5EF4-FFF2-40B4-BE49-F238E27FC236}">
                <a16:creationId xmlns:a16="http://schemas.microsoft.com/office/drawing/2014/main" id="{4DB361FB-B3B0-4440-AEBE-9AD5C1ED8680}"/>
              </a:ext>
            </a:extLst>
          </p:cNvPr>
          <p:cNvSpPr>
            <a:spLocks xmlns:a="http://schemas.openxmlformats.org/drawingml/2006/main" noGrp="1"/>
          </p:cNvSpPr>
          <p:nvPr/>
        </p:nvSpPr>
        <p:spPr>
          <a:xfrm xmlns:a="http://schemas.openxmlformats.org/drawingml/2006/main">
            <a:off x="771525" y="3352800"/>
            <a:ext cx="10191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71717"/>
                </a:solidFill>
                <a:latin typeface="Arial"/>
                <a:ea typeface="Arial"/>
                <a:cs typeface="Arial"/>
              </a:defRPr>
            </a:pPr>
            <a:r>
              <a:rPr sz="3225" b="0">
                <a:solidFill>
                  <a:srgbClr val="171717"/>
                </a:solidFill>
                <a:latin typeface="Arial"/>
                <a:ea typeface="Arial"/>
                <a:cs typeface="Arial"/>
              </a:rPr>
              <a:t>Find the source. Review the action.</a:t>
            </a:r>
          </a:p>
        </p:txBody>
      </p:sp>
      <p:sp>
        <p:nvSpPr>
          <p:cNvPr id="3" name="">
            <a:extLst xmlns:a="http://schemas.openxmlformats.org/drawingml/2006/main">
              <a:ext uri="{FF2B5EF4-FFF2-40B4-BE49-F238E27FC236}">
                <a16:creationId xmlns:a16="http://schemas.microsoft.com/office/drawing/2014/main" id="{02A1D173-1E4D-4F7B-9639-61CE78D9621F}"/>
              </a:ext>
            </a:extLst>
          </p:cNvPr>
          <p:cNvSpPr>
            <a:spLocks xmlns:a="http://schemas.openxmlformats.org/drawingml/2006/main" noGrp="1"/>
          </p:cNvSpPr>
          <p:nvPr/>
        </p:nvSpPr>
        <p:spPr>
          <a:xfrm xmlns:a="http://schemas.openxmlformats.org/drawingml/2006/main">
            <a:off x="781050" y="54102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D54438"/>
                </a:solidFill>
                <a:latin typeface="Arial"/>
                <a:ea typeface="Arial"/>
                <a:cs typeface="Arial"/>
              </a:defRPr>
            </a:pPr>
            <a:r>
              <a:rPr sz="2475" b="1">
                <a:solidFill>
                  <a:srgbClr val="D54438"/>
                </a:solidFill>
                <a:latin typeface="Arial"/>
                <a:ea typeface="Arial"/>
                <a:cs typeface="Arial"/>
              </a:rPr>
              <a:t>Questions</a:t>
            </a:r>
          </a:p>
        </p:txBody>
      </p:sp>
    </p:spTree>
    <p:extLst>
      <p:ext uri="{BB962C8B-B14F-4D97-AF65-F5344CB8AC3E}">
        <p14:creationId xmlns:p14="http://schemas.microsoft.com/office/powerpoint/2010/main" val="19369325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29C365-ABD9-44B9-99D6-CA6723B3D9FC}"/>
              </a:ext>
            </a:extLst>
          </p:cNvPr>
          <p:cNvSpPr>
            <a:spLocks xmlns:a="http://schemas.openxmlformats.org/drawingml/2006/main" noGrp="1"/>
          </p:cNvSpPr>
          <p:nvPr/>
        </p:nvSpPr>
        <p:spPr>
          <a:xfrm xmlns:a="http://schemas.openxmlformats.org/drawingml/2006/main">
            <a:off x="733425" y="5905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71717"/>
                </a:solidFill>
                <a:latin typeface="Arial"/>
                <a:ea typeface="Arial"/>
                <a:cs typeface="Arial"/>
              </a:defRPr>
            </a:pPr>
            <a:r>
              <a:rPr sz="4650" b="1">
                <a:solidFill>
                  <a:srgbClr val="171717"/>
                </a:solidFill>
                <a:latin typeface="Arial"/>
                <a:ea typeface="Arial"/>
                <a:cs typeface="Arial"/>
              </a:rPr>
              <a:t>Integration evidence</a:t>
            </a:r>
          </a:p>
        </p:txBody>
      </p:sp>
      <p:sp>
        <p:nvSpPr>
          <p:cNvPr id="2" name="">
            <a:extLst xmlns:a="http://schemas.openxmlformats.org/drawingml/2006/main">
              <a:ext uri="{FF2B5EF4-FFF2-40B4-BE49-F238E27FC236}">
                <a16:creationId xmlns:a16="http://schemas.microsoft.com/office/drawing/2014/main" id="{52B4FE9A-B9BC-49C6-AC1D-4847B9C446CB}"/>
              </a:ext>
            </a:extLst>
          </p:cNvPr>
          <p:cNvSpPr>
            <a:spLocks xmlns:a="http://schemas.openxmlformats.org/drawingml/2006/main" noGrp="1"/>
          </p:cNvSpPr>
          <p:nvPr/>
        </p:nvSpPr>
        <p:spPr>
          <a:xfrm xmlns:a="http://schemas.openxmlformats.org/drawingml/2006/main">
            <a:off x="762000" y="16954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1717"/>
                </a:solidFill>
                <a:latin typeface="Arial"/>
                <a:ea typeface="Arial"/>
                <a:cs typeface="Arial"/>
              </a:defRPr>
            </a:pPr>
            <a:r>
              <a:rPr sz="2625" b="1">
                <a:solidFill>
                  <a:srgbClr val="171717"/>
                </a:solidFill>
                <a:latin typeface="Arial"/>
                <a:ea typeface="Arial"/>
                <a:cs typeface="Arial"/>
              </a:rPr>
              <a:t>Tiger Data</a:t>
            </a:r>
          </a:p>
        </p:txBody>
      </p:sp>
      <p:sp>
        <p:nvSpPr>
          <p:cNvPr id="3" name="">
            <a:extLst xmlns:a="http://schemas.openxmlformats.org/drawingml/2006/main">
              <a:ext uri="{FF2B5EF4-FFF2-40B4-BE49-F238E27FC236}">
                <a16:creationId xmlns:a16="http://schemas.microsoft.com/office/drawing/2014/main" id="{2E8857B9-B392-44AC-9B1C-DE76E7E44C78}"/>
              </a:ext>
            </a:extLst>
          </p:cNvPr>
          <p:cNvSpPr>
            <a:spLocks xmlns:a="http://schemas.openxmlformats.org/drawingml/2006/main" noGrp="1"/>
          </p:cNvSpPr>
          <p:nvPr/>
        </p:nvSpPr>
        <p:spPr>
          <a:xfrm xmlns:a="http://schemas.openxmlformats.org/drawingml/2006/main">
            <a:off x="4095750" y="1695450"/>
            <a:ext cx="723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Delivered event metadata and aggregate trends</a:t>
            </a:r>
          </a:p>
        </p:txBody>
      </p:sp>
      <p:sp>
        <p:nvSpPr>
          <p:cNvPr id="4" name="">
            <a:extLst xmlns:a="http://schemas.openxmlformats.org/drawingml/2006/main">
              <a:ext uri="{FF2B5EF4-FFF2-40B4-BE49-F238E27FC236}">
                <a16:creationId xmlns:a16="http://schemas.microsoft.com/office/drawing/2014/main" id="{76B678AA-4E13-4105-AD53-0BBEB8ECA20C}"/>
              </a:ext>
            </a:extLst>
          </p:cNvPr>
          <p:cNvSpPr>
            <a:spLocks xmlns:a="http://schemas.openxmlformats.org/drawingml/2006/main" noGrp="1"/>
          </p:cNvSpPr>
          <p:nvPr/>
        </p:nvSpPr>
        <p:spPr>
          <a:xfrm xmlns:a="http://schemas.openxmlformats.org/drawingml/2006/main">
            <a:off x="762000" y="25717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1717"/>
                </a:solidFill>
                <a:latin typeface="Arial"/>
                <a:ea typeface="Arial"/>
                <a:cs typeface="Arial"/>
              </a:defRPr>
            </a:pPr>
            <a:r>
              <a:rPr sz="2625" b="1">
                <a:solidFill>
                  <a:srgbClr val="171717"/>
                </a:solidFill>
                <a:latin typeface="Arial"/>
                <a:ea typeface="Arial"/>
                <a:cs typeface="Arial"/>
              </a:rPr>
              <a:t>Auth0</a:t>
            </a:r>
          </a:p>
        </p:txBody>
      </p:sp>
      <p:sp>
        <p:nvSpPr>
          <p:cNvPr id="5" name="">
            <a:extLst xmlns:a="http://schemas.openxmlformats.org/drawingml/2006/main">
              <a:ext uri="{FF2B5EF4-FFF2-40B4-BE49-F238E27FC236}">
                <a16:creationId xmlns:a16="http://schemas.microsoft.com/office/drawing/2014/main" id="{4DEB9610-EA70-463D-876F-605C8909840D}"/>
              </a:ext>
            </a:extLst>
          </p:cNvPr>
          <p:cNvSpPr>
            <a:spLocks xmlns:a="http://schemas.openxmlformats.org/drawingml/2006/main" noGrp="1"/>
          </p:cNvSpPr>
          <p:nvPr/>
        </p:nvSpPr>
        <p:spPr>
          <a:xfrm xmlns:a="http://schemas.openxmlformats.org/drawingml/2006/main">
            <a:off x="4095750" y="2571750"/>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JWT and role boundary built; live staff token pending</a:t>
            </a:r>
          </a:p>
        </p:txBody>
      </p:sp>
      <p:sp>
        <p:nvSpPr>
          <p:cNvPr id="6" name="">
            <a:extLst xmlns:a="http://schemas.openxmlformats.org/drawingml/2006/main">
              <a:ext uri="{FF2B5EF4-FFF2-40B4-BE49-F238E27FC236}">
                <a16:creationId xmlns:a16="http://schemas.microsoft.com/office/drawing/2014/main" id="{8A9EA43C-5C0D-4D11-8219-727BDC444D2F}"/>
              </a:ext>
            </a:extLst>
          </p:cNvPr>
          <p:cNvSpPr>
            <a:spLocks xmlns:a="http://schemas.openxmlformats.org/drawingml/2006/main" noGrp="1"/>
          </p:cNvSpPr>
          <p:nvPr/>
        </p:nvSpPr>
        <p:spPr>
          <a:xfrm xmlns:a="http://schemas.openxmlformats.org/drawingml/2006/main">
            <a:off x="762000" y="35337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1717"/>
                </a:solidFill>
                <a:latin typeface="Arial"/>
                <a:ea typeface="Arial"/>
                <a:cs typeface="Arial"/>
              </a:defRPr>
            </a:pPr>
            <a:r>
              <a:rPr sz="2625" b="1">
                <a:solidFill>
                  <a:srgbClr val="171717"/>
                </a:solidFill>
                <a:latin typeface="Arial"/>
                <a:ea typeface="Arial"/>
                <a:cs typeface="Arial"/>
              </a:rPr>
              <a:t>ElevenLabs</a:t>
            </a:r>
          </a:p>
        </p:txBody>
      </p:sp>
      <p:sp>
        <p:nvSpPr>
          <p:cNvPr id="7" name="">
            <a:extLst xmlns:a="http://schemas.openxmlformats.org/drawingml/2006/main">
              <a:ext uri="{FF2B5EF4-FFF2-40B4-BE49-F238E27FC236}">
                <a16:creationId xmlns:a16="http://schemas.microsoft.com/office/drawing/2014/main" id="{117EA3E3-7CD8-4C95-918D-A809C1356525}"/>
              </a:ext>
            </a:extLst>
          </p:cNvPr>
          <p:cNvSpPr>
            <a:spLocks xmlns:a="http://schemas.openxmlformats.org/drawingml/2006/main" noGrp="1"/>
          </p:cNvSpPr>
          <p:nvPr/>
        </p:nvSpPr>
        <p:spPr>
          <a:xfrm xmlns:a="http://schemas.openxmlformats.org/drawingml/2006/main">
            <a:off x="4095750" y="3533775"/>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Signed voice session; end-to-end intake pending</a:t>
            </a:r>
          </a:p>
        </p:txBody>
      </p:sp>
      <p:sp>
        <p:nvSpPr>
          <p:cNvPr id="8" name="">
            <a:extLst xmlns:a="http://schemas.openxmlformats.org/drawingml/2006/main">
              <a:ext uri="{FF2B5EF4-FFF2-40B4-BE49-F238E27FC236}">
                <a16:creationId xmlns:a16="http://schemas.microsoft.com/office/drawing/2014/main" id="{D2F4AC7A-2413-4627-BE81-542835F24145}"/>
              </a:ext>
            </a:extLst>
          </p:cNvPr>
          <p:cNvSpPr>
            <a:spLocks xmlns:a="http://schemas.openxmlformats.org/drawingml/2006/main" noGrp="1"/>
          </p:cNvSpPr>
          <p:nvPr/>
        </p:nvSpPr>
        <p:spPr>
          <a:xfrm xmlns:a="http://schemas.openxmlformats.org/drawingml/2006/main">
            <a:off x="762000" y="44958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1717"/>
                </a:solidFill>
                <a:latin typeface="Arial"/>
                <a:ea typeface="Arial"/>
                <a:cs typeface="Arial"/>
              </a:defRPr>
            </a:pPr>
            <a:r>
              <a:rPr sz="2625" b="1">
                <a:solidFill>
                  <a:srgbClr val="171717"/>
                </a:solidFill>
                <a:latin typeface="Arial"/>
                <a:ea typeface="Arial"/>
                <a:cs typeface="Arial"/>
              </a:rPr>
              <a:t>Presage</a:t>
            </a:r>
          </a:p>
        </p:txBody>
      </p:sp>
      <p:sp>
        <p:nvSpPr>
          <p:cNvPr id="9" name="">
            <a:extLst xmlns:a="http://schemas.openxmlformats.org/drawingml/2006/main">
              <a:ext uri="{FF2B5EF4-FFF2-40B4-BE49-F238E27FC236}">
                <a16:creationId xmlns:a16="http://schemas.microsoft.com/office/drawing/2014/main" id="{6FBDA852-A938-4721-9FE8-11BD7E77A7CF}"/>
              </a:ext>
            </a:extLst>
          </p:cNvPr>
          <p:cNvSpPr>
            <a:spLocks xmlns:a="http://schemas.openxmlformats.org/drawingml/2006/main" noGrp="1"/>
          </p:cNvSpPr>
          <p:nvPr/>
        </p:nvSpPr>
        <p:spPr>
          <a:xfrm xmlns:a="http://schemas.openxmlformats.org/drawingml/2006/main">
            <a:off x="4095750" y="4495800"/>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Native integration; physical iPhone signal pending</a:t>
            </a:r>
          </a:p>
        </p:txBody>
      </p:sp>
      <p:sp>
        <p:nvSpPr>
          <p:cNvPr id="10" name="">
            <a:extLst xmlns:a="http://schemas.openxmlformats.org/drawingml/2006/main">
              <a:ext uri="{FF2B5EF4-FFF2-40B4-BE49-F238E27FC236}">
                <a16:creationId xmlns:a16="http://schemas.microsoft.com/office/drawing/2014/main" id="{0B9E8E38-7402-401B-9719-EA57B930A1DD}"/>
              </a:ext>
            </a:extLst>
          </p:cNvPr>
          <p:cNvSpPr>
            <a:spLocks xmlns:a="http://schemas.openxmlformats.org/drawingml/2006/main" noGrp="1"/>
          </p:cNvSpPr>
          <p:nvPr/>
        </p:nvSpPr>
        <p:spPr>
          <a:xfrm xmlns:a="http://schemas.openxmlformats.org/drawingml/2006/main">
            <a:off x="781050" y="58102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4438"/>
                </a:solidFill>
                <a:latin typeface="Arial"/>
                <a:ea typeface="Arial"/>
                <a:cs typeface="Arial"/>
              </a:defRPr>
            </a:pPr>
            <a:r>
              <a:rPr sz="1725" b="1">
                <a:solidFill>
                  <a:srgbClr val="D54438"/>
                </a:solidFill>
                <a:latin typeface="Arial"/>
                <a:ea typeface="Arial"/>
                <a:cs typeface="Arial"/>
              </a:rPr>
              <a:t>Backup for Q&amp;A</a:t>
            </a:r>
          </a:p>
        </p:txBody>
      </p:sp>
    </p:spTree>
    <p:extLst>
      <p:ext uri="{BB962C8B-B14F-4D97-AF65-F5344CB8AC3E}">
        <p14:creationId xmlns:p14="http://schemas.microsoft.com/office/powerpoint/2010/main" val="18953759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2026-09-27T03:31:24.8210000Z</dcterms:created>
  <dcterms:modified xsi:type="dcterms:W3CDTF">2026-09-27T03:31:24.8210000Z</dcterms:modified>
</coreProperties>
</file>